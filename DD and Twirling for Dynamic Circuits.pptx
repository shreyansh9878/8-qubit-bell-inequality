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AE90CA-C906-4A48-9B7E-B4DD7FEBCE38}" v="38" dt="2026-02-02T12:17:42.6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9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4C837-101E-665D-F364-35574A4B99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570F7D-BB6A-E883-1538-B9AE10D91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5779A4-8DC2-9377-40F7-77B0F227B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FDC93-700F-5CD4-6575-14C0F7D91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BD352-B572-CE7F-573D-BD96D0EBC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8451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6715E-AC47-8506-5D64-9D334BDF1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444E0-6103-5D6B-5021-6206BF32E3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3240C-0689-245F-3549-0D7299674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26651D-EB7A-E8CD-36F6-33267810D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38BD29-72EC-3A2B-B1EA-6FD8E5333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649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1876F-C97B-B0D4-325E-6ABAA2ECC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B83522-A76E-A2A5-08F6-28C98499E8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C0E5A-3850-D032-3D96-7B95EE79C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A0348-E7A2-A176-E4BE-43917300E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58AAA-91E7-621C-B95E-F6E2828BD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795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AA7A8-FF7D-CDAD-17B7-7591851EF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2FC62-E47E-B36D-D565-67AD2E9E07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4BDA55-4394-7A11-7D17-40CBED87E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017B9-00D5-E7E5-B996-AE5A64994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143066-7AB6-43BB-C6CD-DFF67DAA0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D565D-4830-F9A3-1AB6-E8420B5BC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5143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5829B-E059-6B41-85A1-917921C34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C7B00-36C1-263E-E1D2-D13AF4D165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942659-9B2A-3CA3-1C75-E115F2F9E2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65BFDD-C39B-9B12-5F0A-3CD3369F91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9F9142-4024-B70D-3C49-CEFB8FFDC1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7A5FA5-767B-561F-91C0-AE944552A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844D9E-F5FF-3983-3FB0-1EDF3F7CB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2B2A23-AB5E-8CBF-D807-EED750E1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6961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BC5135-92CA-BE15-792F-E8E738E26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B1C654E-7107-6A19-4197-E688672FD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3CC1E3-FDB9-FA6C-1346-7B0C16960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B41AC6-B772-B600-8CE5-123EC6B06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7079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B2A4F0-76E9-0139-5D04-5E6A774E4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865861-61A6-E51D-8234-A678739E4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BD98A9-F9E5-8564-A82C-08780F9C3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114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A1950-AC49-0CB3-197E-D591856CCA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7D264-AD1A-CB11-7E9B-8B969ACFA3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02DA02-2A0D-6FB9-815E-DF627B077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E1D88B-E5BD-BDD2-AE70-F6C2D30E6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91C44C-FBA9-1101-E31F-D15404FDD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21F9AE-318B-0803-E56D-F2C52EC0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2188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48471-C250-A040-F973-A8D4CFF39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54EB30-5E73-45D7-9DEA-F55655C378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37D6B1-0208-48AF-C351-AC34E102DC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8C300B-6A02-6C9A-BDEF-B1B06AD67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28404D-1B02-6CBC-09B7-FC40E2430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8E28F6-0450-A79E-01EA-497DBC106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5929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2D13F-88BD-B252-7780-2B9B83CB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182FC-93E3-F7A9-E3EB-4B1766381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8B8039-7095-0377-AF75-95D717BB5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80DD77-66CB-9EFB-8C76-D7C8BF3B8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A113FD-B518-6E09-553C-72464CBF6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0406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7AB64F-7FE2-0FB2-1D7D-9D803651B2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5298D-84C1-E41A-FF3E-7BDE971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882959-593B-8CC8-39EE-274B98ED4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E849A-A322-DC52-266E-E8DDA629F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03EBA-64B1-972F-807A-2239997BD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2397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CF704C-DE0C-50D0-B6DD-8AF55B1FC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EFB554-1699-6317-6AEB-6AB918ECC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79AA17-3484-A457-9267-390129A240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E3A83F-3928-4016-8C9F-9448C7DEFEB2}" type="datetimeFigureOut">
              <a:rPr lang="en-IN" smtClean="0"/>
              <a:t>02-02-2026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28A42-9C4F-CC71-EF8E-FB1FBC57E0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B2285-8114-039D-A83E-2E7D68F4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AA866F-67C6-46BF-852F-2C7C1F311B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9085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C40CC-BCBB-F5A4-170F-330462C0D4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IN" sz="8800" dirty="0"/>
              <a:t>DD and Twirling for Dynamic Circuits</a:t>
            </a:r>
          </a:p>
        </p:txBody>
      </p:sp>
    </p:spTree>
    <p:extLst>
      <p:ext uri="{BB962C8B-B14F-4D97-AF65-F5344CB8AC3E}">
        <p14:creationId xmlns:p14="http://schemas.microsoft.com/office/powerpoint/2010/main" val="3785878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AA3C4-913D-32B6-6BC0-533F61D82859}"/>
              </a:ext>
            </a:extLst>
          </p:cNvPr>
          <p:cNvSpPr txBox="1">
            <a:spLocks/>
          </p:cNvSpPr>
          <p:nvPr/>
        </p:nvSpPr>
        <p:spPr>
          <a:xfrm>
            <a:off x="148105" y="64391"/>
            <a:ext cx="9144000" cy="6742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1. Split QC </a:t>
            </a: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7FE55DE3-DF9D-4BC9-C4BB-CCFD0DE6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277" y="670318"/>
            <a:ext cx="10065445" cy="2758682"/>
          </a:xfrm>
          <a:prstGeom prst="rect">
            <a:avLst/>
          </a:prstGeom>
        </p:spPr>
      </p:pic>
      <p:pic>
        <p:nvPicPr>
          <p:cNvPr id="6" name="Picture 5" descr="A diagram of a stitching scheme&#10;&#10;AI-generated content may be incorrect.">
            <a:extLst>
              <a:ext uri="{FF2B5EF4-FFF2-40B4-BE49-F238E27FC236}">
                <a16:creationId xmlns:a16="http://schemas.microsoft.com/office/drawing/2014/main" id="{0FAAA536-7DD1-2A0E-4346-F6F333522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25" y="3709381"/>
            <a:ext cx="3364734" cy="2710998"/>
          </a:xfrm>
          <a:prstGeom prst="rect">
            <a:avLst/>
          </a:prstGeom>
        </p:spPr>
      </p:pic>
      <p:pic>
        <p:nvPicPr>
          <p:cNvPr id="8" name="Picture 7" descr="A graph with blue squares and red squares&#10;&#10;AI-generated content may be incorrect.">
            <a:extLst>
              <a:ext uri="{FF2B5EF4-FFF2-40B4-BE49-F238E27FC236}">
                <a16:creationId xmlns:a16="http://schemas.microsoft.com/office/drawing/2014/main" id="{A4934D66-166F-B4EB-B9F2-458D71D5C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676" y="3709381"/>
            <a:ext cx="3867689" cy="2710998"/>
          </a:xfrm>
          <a:prstGeom prst="rect">
            <a:avLst/>
          </a:prstGeom>
        </p:spPr>
      </p:pic>
      <p:pic>
        <p:nvPicPr>
          <p:cNvPr id="10" name="Picture 9" descr="A graph of a graph&#10;&#10;AI-generated content may be incorrect.">
            <a:extLst>
              <a:ext uri="{FF2B5EF4-FFF2-40B4-BE49-F238E27FC236}">
                <a16:creationId xmlns:a16="http://schemas.microsoft.com/office/drawing/2014/main" id="{4BAA5302-1DBC-2591-421C-7FD5093F78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4484" y="3709381"/>
            <a:ext cx="3867690" cy="271099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F137ED9-CC1F-98D1-C129-B90D0C1FD880}"/>
              </a:ext>
            </a:extLst>
          </p:cNvPr>
          <p:cNvCxnSpPr>
            <a:cxnSpLocks/>
          </p:cNvCxnSpPr>
          <p:nvPr/>
        </p:nvCxnSpPr>
        <p:spPr>
          <a:xfrm flipH="1">
            <a:off x="2788276" y="3389482"/>
            <a:ext cx="3261465" cy="42936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F6601C5-D51B-FF6F-5316-4DD33A3375BF}"/>
              </a:ext>
            </a:extLst>
          </p:cNvPr>
          <p:cNvCxnSpPr>
            <a:cxnSpLocks/>
          </p:cNvCxnSpPr>
          <p:nvPr/>
        </p:nvCxnSpPr>
        <p:spPr>
          <a:xfrm>
            <a:off x="6049741" y="3389482"/>
            <a:ext cx="2933271" cy="42936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078C58C-8130-9BDA-19E1-D5018608D472}"/>
              </a:ext>
            </a:extLst>
          </p:cNvPr>
          <p:cNvCxnSpPr>
            <a:cxnSpLocks/>
          </p:cNvCxnSpPr>
          <p:nvPr/>
        </p:nvCxnSpPr>
        <p:spPr>
          <a:xfrm flipH="1">
            <a:off x="6049741" y="3389482"/>
            <a:ext cx="1" cy="429365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CAE3D42-3DAA-FD5A-7BA5-2132DA98EFA1}"/>
              </a:ext>
            </a:extLst>
          </p:cNvPr>
          <p:cNvSpPr txBox="1"/>
          <p:nvPr/>
        </p:nvSpPr>
        <p:spPr>
          <a:xfrm>
            <a:off x="569363" y="6324538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 err="1"/>
              <a:t>Before_ifelseop</a:t>
            </a:r>
            <a:endParaRPr lang="en-IN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429596-AB25-09C8-B9F2-4658A03B62AB}"/>
              </a:ext>
            </a:extLst>
          </p:cNvPr>
          <p:cNvSpPr txBox="1"/>
          <p:nvPr/>
        </p:nvSpPr>
        <p:spPr>
          <a:xfrm>
            <a:off x="5278082" y="521348"/>
            <a:ext cx="1848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Original Circuit</a:t>
            </a:r>
            <a:endParaRPr lang="en-IN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FD885A5-BD2C-A7AA-81DE-1B1F1948B103}"/>
              </a:ext>
            </a:extLst>
          </p:cNvPr>
          <p:cNvSpPr txBox="1"/>
          <p:nvPr/>
        </p:nvSpPr>
        <p:spPr>
          <a:xfrm>
            <a:off x="4616912" y="6324538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 err="1"/>
              <a:t>Ifelseop</a:t>
            </a:r>
            <a:endParaRPr lang="en-IN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A4C05B1-5F73-4EF3-EE21-80D413BA0067}"/>
              </a:ext>
            </a:extLst>
          </p:cNvPr>
          <p:cNvSpPr txBox="1"/>
          <p:nvPr/>
        </p:nvSpPr>
        <p:spPr>
          <a:xfrm>
            <a:off x="8505500" y="6324538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 err="1"/>
              <a:t>After_ifelseop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345542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8DF6D-2BC2-0200-109C-6D23EAD6CB0A}"/>
              </a:ext>
            </a:extLst>
          </p:cNvPr>
          <p:cNvSpPr txBox="1">
            <a:spLocks/>
          </p:cNvSpPr>
          <p:nvPr/>
        </p:nvSpPr>
        <p:spPr>
          <a:xfrm>
            <a:off x="257576" y="70830"/>
            <a:ext cx="11790610" cy="67424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2</a:t>
            </a:r>
            <a:r>
              <a:rPr lang="en-IN" sz="2800" dirty="0"/>
              <a:t>. Apply Box for </a:t>
            </a:r>
            <a:r>
              <a:rPr lang="en-IN" sz="2800" dirty="0" err="1"/>
              <a:t>Samplomatic</a:t>
            </a:r>
            <a:r>
              <a:rPr lang="en-IN" sz="2800" dirty="0"/>
              <a:t> to </a:t>
            </a:r>
            <a:r>
              <a:rPr lang="en-IN" sz="2800" b="1" dirty="0" err="1"/>
              <a:t>Before_ifelseop</a:t>
            </a:r>
            <a:r>
              <a:rPr lang="en-IN" sz="2800" b="1" dirty="0"/>
              <a:t> </a:t>
            </a:r>
            <a:r>
              <a:rPr lang="en-IN" sz="2800" dirty="0"/>
              <a:t>and </a:t>
            </a:r>
            <a:r>
              <a:rPr lang="en-IN" sz="2800" b="1" dirty="0" err="1"/>
              <a:t>After_ifelseop</a:t>
            </a:r>
            <a:r>
              <a:rPr lang="en-IN" sz="2800" dirty="0"/>
              <a:t> </a:t>
            </a:r>
          </a:p>
        </p:txBody>
      </p:sp>
      <p:pic>
        <p:nvPicPr>
          <p:cNvPr id="4" name="Picture 3" descr="A diagram of a machine&#10;&#10;AI-generated content may be incorrect.">
            <a:extLst>
              <a:ext uri="{FF2B5EF4-FFF2-40B4-BE49-F238E27FC236}">
                <a16:creationId xmlns:a16="http://schemas.microsoft.com/office/drawing/2014/main" id="{BE160882-374E-F53E-CB9C-87C2501CF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76" y="682719"/>
            <a:ext cx="5672355" cy="3939771"/>
          </a:xfrm>
          <a:prstGeom prst="rect">
            <a:avLst/>
          </a:prstGeom>
        </p:spPr>
      </p:pic>
      <p:pic>
        <p:nvPicPr>
          <p:cNvPr id="6" name="Picture 5" descr="A diagram of a graph&#10;&#10;AI-generated content may be incorrect.">
            <a:extLst>
              <a:ext uri="{FF2B5EF4-FFF2-40B4-BE49-F238E27FC236}">
                <a16:creationId xmlns:a16="http://schemas.microsoft.com/office/drawing/2014/main" id="{5F17F90C-B8D8-41C5-2A9F-7C48CEA37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931" y="2591943"/>
            <a:ext cx="5943574" cy="412814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1BA5FF-68B6-5517-086D-1BE4FE100C1B}"/>
              </a:ext>
            </a:extLst>
          </p:cNvPr>
          <p:cNvSpPr txBox="1"/>
          <p:nvPr/>
        </p:nvSpPr>
        <p:spPr>
          <a:xfrm>
            <a:off x="1660924" y="4437824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 err="1"/>
              <a:t>Before_ifelseop</a:t>
            </a:r>
            <a:endParaRPr lang="en-IN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BBEAEE-FE6A-F35F-89E6-B10ED185A3EF}"/>
              </a:ext>
            </a:extLst>
          </p:cNvPr>
          <p:cNvSpPr txBox="1"/>
          <p:nvPr/>
        </p:nvSpPr>
        <p:spPr>
          <a:xfrm>
            <a:off x="7468889" y="2291369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 err="1"/>
              <a:t>After_ifelseop</a:t>
            </a:r>
            <a:endParaRPr lang="en-IN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E52BEF-019A-3A38-5B2A-90A548BF8154}"/>
              </a:ext>
            </a:extLst>
          </p:cNvPr>
          <p:cNvSpPr txBox="1"/>
          <p:nvPr/>
        </p:nvSpPr>
        <p:spPr>
          <a:xfrm>
            <a:off x="199624" y="4987394"/>
            <a:ext cx="58963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/>
              <a:t>Note: </a:t>
            </a:r>
            <a:r>
              <a:rPr lang="en-US" dirty="0"/>
              <a:t>Don’t apply twirling box to mid circuit measurement as we will not be able to correct for Pauli Twirling before further processing and we will not get correct results. 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534275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94B18-8818-D75D-DF77-FB48AC24509D}"/>
              </a:ext>
            </a:extLst>
          </p:cNvPr>
          <p:cNvSpPr txBox="1">
            <a:spLocks/>
          </p:cNvSpPr>
          <p:nvPr/>
        </p:nvSpPr>
        <p:spPr>
          <a:xfrm>
            <a:off x="257576" y="83707"/>
            <a:ext cx="11790610" cy="869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3</a:t>
            </a:r>
            <a:r>
              <a:rPr lang="en-IN" sz="2800" dirty="0"/>
              <a:t>. Combine </a:t>
            </a:r>
            <a:r>
              <a:rPr lang="en-IN" sz="2800" b="1" dirty="0" err="1"/>
              <a:t>Before_ifelseop</a:t>
            </a:r>
            <a:r>
              <a:rPr lang="en-IN" sz="2800" b="1" dirty="0"/>
              <a:t> </a:t>
            </a:r>
            <a:r>
              <a:rPr lang="en-IN" sz="2800" dirty="0"/>
              <a:t>and </a:t>
            </a:r>
            <a:r>
              <a:rPr lang="en-IN" sz="2800" b="1" dirty="0" err="1"/>
              <a:t>After_ifelseop</a:t>
            </a:r>
            <a:r>
              <a:rPr lang="en-IN" sz="2800" dirty="0"/>
              <a:t> with a barrier to label dissection point</a:t>
            </a:r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DB0A588C-B9CA-5C2D-C3C4-F5DB3D95B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6" y="1264025"/>
            <a:ext cx="11365607" cy="399944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BB3DA66-FAF9-F62E-6147-E3010A749F7A}"/>
              </a:ext>
            </a:extLst>
          </p:cNvPr>
          <p:cNvSpPr/>
          <p:nvPr/>
        </p:nvSpPr>
        <p:spPr>
          <a:xfrm>
            <a:off x="413196" y="1264025"/>
            <a:ext cx="5762224" cy="431043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27804-8323-AF1C-E5EF-AEC1C6848DEA}"/>
              </a:ext>
            </a:extLst>
          </p:cNvPr>
          <p:cNvSpPr/>
          <p:nvPr/>
        </p:nvSpPr>
        <p:spPr>
          <a:xfrm>
            <a:off x="6882683" y="1283545"/>
            <a:ext cx="5049593" cy="431043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B81D3B-552B-78B1-3223-197C286F6F25}"/>
              </a:ext>
            </a:extLst>
          </p:cNvPr>
          <p:cNvSpPr txBox="1"/>
          <p:nvPr/>
        </p:nvSpPr>
        <p:spPr>
          <a:xfrm>
            <a:off x="1861479" y="5684125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 err="1"/>
              <a:t>Before_ifelseop</a:t>
            </a:r>
            <a:endParaRPr lang="en-IN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CA57F-D4DD-81B1-EE84-D8947A8B07D0}"/>
              </a:ext>
            </a:extLst>
          </p:cNvPr>
          <p:cNvSpPr txBox="1"/>
          <p:nvPr/>
        </p:nvSpPr>
        <p:spPr>
          <a:xfrm>
            <a:off x="8392623" y="5684125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 err="1"/>
              <a:t>After_ifelseop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971762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C486B-89AF-00C4-9588-580B8361CD52}"/>
              </a:ext>
            </a:extLst>
          </p:cNvPr>
          <p:cNvSpPr txBox="1">
            <a:spLocks/>
          </p:cNvSpPr>
          <p:nvPr/>
        </p:nvSpPr>
        <p:spPr>
          <a:xfrm>
            <a:off x="257576" y="83707"/>
            <a:ext cx="11790610" cy="869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4</a:t>
            </a:r>
            <a:r>
              <a:rPr lang="en-IN" sz="2800" dirty="0"/>
              <a:t>. Construct </a:t>
            </a:r>
            <a:r>
              <a:rPr lang="en-IN" sz="2800" b="1" dirty="0"/>
              <a:t>Template</a:t>
            </a:r>
            <a:r>
              <a:rPr lang="en-IN" sz="2800" dirty="0"/>
              <a:t> and </a:t>
            </a:r>
            <a:r>
              <a:rPr lang="en-IN" sz="2800" b="1" dirty="0" err="1"/>
              <a:t>Samplex</a:t>
            </a:r>
            <a:r>
              <a:rPr lang="en-IN" sz="2800" b="1" dirty="0"/>
              <a:t> </a:t>
            </a:r>
            <a:r>
              <a:rPr lang="en-IN" sz="2800" dirty="0"/>
              <a:t>from the combined circuit and their randomizations for Twirling</a:t>
            </a:r>
            <a:endParaRPr lang="en-IN" sz="2800" b="1" dirty="0"/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23851318-886B-1145-83F8-31FB87F4F7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2343"/>
          <a:stretch>
            <a:fillRect/>
          </a:stretch>
        </p:blipFill>
        <p:spPr>
          <a:xfrm>
            <a:off x="75983" y="1007276"/>
            <a:ext cx="8818158" cy="2697614"/>
          </a:xfrm>
          <a:prstGeom prst="rect">
            <a:avLst/>
          </a:prstGeom>
        </p:spPr>
      </p:pic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F48D1B22-028A-F147-9FA1-7BAA6B6D3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675"/>
          <a:stretch>
            <a:fillRect/>
          </a:stretch>
        </p:blipFill>
        <p:spPr>
          <a:xfrm>
            <a:off x="2179542" y="3718287"/>
            <a:ext cx="9681900" cy="26976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2233CC5-4B57-7219-096D-64AAD1ABE781}"/>
              </a:ext>
            </a:extLst>
          </p:cNvPr>
          <p:cNvSpPr txBox="1"/>
          <p:nvPr/>
        </p:nvSpPr>
        <p:spPr>
          <a:xfrm>
            <a:off x="4720052" y="6354094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Circuit: </a:t>
            </a:r>
            <a:r>
              <a:rPr lang="en-US" b="1" dirty="0"/>
              <a:t>Template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2066097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3C81A085-3AFD-4E80-B269-70068DDFF7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865" y="186132"/>
            <a:ext cx="11884269" cy="3007829"/>
          </a:xfrm>
          <a:prstGeom prst="rect">
            <a:avLst/>
          </a:prstGeom>
        </p:spPr>
      </p:pic>
      <p:pic>
        <p:nvPicPr>
          <p:cNvPr id="7" name="Picture 6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22BE262C-E144-23DF-6813-AE286ACFC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998" y="4382445"/>
            <a:ext cx="7773485" cy="17718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5B8726-B96B-7914-9419-3F8710380581}"/>
              </a:ext>
            </a:extLst>
          </p:cNvPr>
          <p:cNvSpPr txBox="1"/>
          <p:nvPr/>
        </p:nvSpPr>
        <p:spPr>
          <a:xfrm>
            <a:off x="4224801" y="3603537"/>
            <a:ext cx="2865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Samplex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51551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EF788-FEB4-876C-8A04-ACABA9B985B1}"/>
              </a:ext>
            </a:extLst>
          </p:cNvPr>
          <p:cNvSpPr txBox="1">
            <a:spLocks/>
          </p:cNvSpPr>
          <p:nvPr/>
        </p:nvSpPr>
        <p:spPr>
          <a:xfrm>
            <a:off x="257576" y="83707"/>
            <a:ext cx="11790610" cy="869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5. Cut </a:t>
            </a:r>
            <a:r>
              <a:rPr lang="en-US" sz="2800" b="1" dirty="0"/>
              <a:t>Template </a:t>
            </a:r>
            <a:r>
              <a:rPr lang="en-US" sz="2800" dirty="0"/>
              <a:t>from the dissection barrier and add </a:t>
            </a:r>
            <a:r>
              <a:rPr lang="en-US" sz="2800" b="1" dirty="0" err="1"/>
              <a:t>Ifelseop</a:t>
            </a:r>
            <a:r>
              <a:rPr lang="en-US" sz="2800" b="1" dirty="0"/>
              <a:t> </a:t>
            </a:r>
            <a:r>
              <a:rPr lang="en-US" sz="2800" dirty="0"/>
              <a:t>circuit</a:t>
            </a:r>
            <a:endParaRPr lang="en-IN" sz="2800" b="1" dirty="0"/>
          </a:p>
        </p:txBody>
      </p:sp>
      <p:pic>
        <p:nvPicPr>
          <p:cNvPr id="4" name="Picture 3" descr="A blue and pink squares and lines&#10;&#10;AI-generated content may be incorrect.">
            <a:extLst>
              <a:ext uri="{FF2B5EF4-FFF2-40B4-BE49-F238E27FC236}">
                <a16:creationId xmlns:a16="http://schemas.microsoft.com/office/drawing/2014/main" id="{CFF52504-DDFF-D468-113B-4368511C0A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951"/>
          <a:stretch>
            <a:fillRect/>
          </a:stretch>
        </p:blipFill>
        <p:spPr>
          <a:xfrm>
            <a:off x="727652" y="1014147"/>
            <a:ext cx="10477488" cy="2707971"/>
          </a:xfrm>
          <a:prstGeom prst="rect">
            <a:avLst/>
          </a:prstGeom>
        </p:spPr>
      </p:pic>
      <p:pic>
        <p:nvPicPr>
          <p:cNvPr id="5" name="Picture 4" descr="A blue and pink squares and lines&#10;&#10;AI-generated content may be incorrect.">
            <a:extLst>
              <a:ext uri="{FF2B5EF4-FFF2-40B4-BE49-F238E27FC236}">
                <a16:creationId xmlns:a16="http://schemas.microsoft.com/office/drawing/2014/main" id="{752E39FF-5371-A10E-C862-62C6BBC6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644"/>
          <a:stretch>
            <a:fillRect/>
          </a:stretch>
        </p:blipFill>
        <p:spPr>
          <a:xfrm>
            <a:off x="727652" y="3892450"/>
            <a:ext cx="10970147" cy="2707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391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BA414-EFF1-C051-8150-6A957EA0A1E0}"/>
              </a:ext>
            </a:extLst>
          </p:cNvPr>
          <p:cNvSpPr txBox="1">
            <a:spLocks/>
          </p:cNvSpPr>
          <p:nvPr/>
        </p:nvSpPr>
        <p:spPr>
          <a:xfrm>
            <a:off x="257576" y="83707"/>
            <a:ext cx="11790610" cy="869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6. </a:t>
            </a:r>
            <a:r>
              <a:rPr lang="en-US" sz="2800" dirty="0" err="1"/>
              <a:t>Transpile</a:t>
            </a:r>
            <a:r>
              <a:rPr lang="en-US" sz="2800" dirty="0"/>
              <a:t> </a:t>
            </a:r>
            <a:r>
              <a:rPr lang="en-US" sz="2800" b="1" dirty="0"/>
              <a:t>Template </a:t>
            </a:r>
            <a:r>
              <a:rPr lang="en-US" sz="2800" dirty="0"/>
              <a:t>for backend</a:t>
            </a: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91C1B8-88AB-3BA8-0F8D-C5C0FFD7A9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8504"/>
          <a:stretch>
            <a:fillRect/>
          </a:stretch>
        </p:blipFill>
        <p:spPr>
          <a:xfrm>
            <a:off x="463640" y="856474"/>
            <a:ext cx="10914220" cy="23214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6C46D51-B7EE-EC87-E813-718A74CC0C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444"/>
          <a:stretch>
            <a:fillRect/>
          </a:stretch>
        </p:blipFill>
        <p:spPr>
          <a:xfrm>
            <a:off x="573110" y="3602863"/>
            <a:ext cx="10291085" cy="232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1761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34E81-A319-97FA-BCBC-B64EFE498524}"/>
              </a:ext>
            </a:extLst>
          </p:cNvPr>
          <p:cNvSpPr txBox="1">
            <a:spLocks/>
          </p:cNvSpPr>
          <p:nvPr/>
        </p:nvSpPr>
        <p:spPr>
          <a:xfrm>
            <a:off x="257576" y="83707"/>
            <a:ext cx="11790610" cy="86932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7. Add dd pulses using stretches to idle qubits in the </a:t>
            </a:r>
            <a:r>
              <a:rPr lang="en-US" sz="2800" b="1" dirty="0" err="1"/>
              <a:t>Ifelseop</a:t>
            </a:r>
            <a:r>
              <a:rPr lang="en-US" sz="2800" dirty="0"/>
              <a:t> part </a:t>
            </a: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724B1-85E4-CC6A-6E0E-5B89DB03E0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7289"/>
          <a:stretch>
            <a:fillRect/>
          </a:stretch>
        </p:blipFill>
        <p:spPr>
          <a:xfrm>
            <a:off x="257576" y="1303349"/>
            <a:ext cx="11778021" cy="18197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B4E2AF-38DA-BF45-A1E1-279B5C58FE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70"/>
          <a:stretch>
            <a:fillRect/>
          </a:stretch>
        </p:blipFill>
        <p:spPr>
          <a:xfrm>
            <a:off x="540910" y="3310308"/>
            <a:ext cx="11510387" cy="1976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89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159</Words>
  <Application>Microsoft Office PowerPoint</Application>
  <PresentationFormat>Widescreen</PresentationFormat>
  <Paragraphs>19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DD and Twirling for Dynamic Circuits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Shreyansh Agarwal</dc:creator>
  <cp:lastModifiedBy>Shreyansh Agarwal</cp:lastModifiedBy>
  <cp:revision>2</cp:revision>
  <dcterms:created xsi:type="dcterms:W3CDTF">2026-02-02T10:55:11Z</dcterms:created>
  <dcterms:modified xsi:type="dcterms:W3CDTF">2026-02-02T14:44:24Z</dcterms:modified>
</cp:coreProperties>
</file>