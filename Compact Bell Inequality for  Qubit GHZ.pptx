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5" r:id="rId8"/>
    <p:sldId id="261" r:id="rId9"/>
    <p:sldId id="260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2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1C88-C01F-D267-91E2-8FE68E0DE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08B5F-F459-C111-1A02-1319DA20F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3DB7D-8759-6EF6-513B-97E3F866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A291F-DC14-2950-3A48-519AF681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3B9B-8CE2-9BCD-6E51-EAE33524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356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E005-6A54-B19E-5A5A-EC6CD276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E82B-EAEB-4613-4CDE-828C4A0E4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BD3E1-5B59-1F92-E26B-619719A8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67A1-7C88-C5DC-7FED-889922BE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65C30-C4C2-7302-97C3-951B0FBE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43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785B-25A2-6D15-BFD3-11E467FD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31BCE-DB90-7672-7AEF-52EE0C81F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3F8D8-0A27-A8F2-4AD5-672319BE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71963-2733-13FF-E4E9-D1CBCC00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14940-25E6-6312-C6B5-5F7D3BCD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29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D2F3-BA1A-A999-5BAE-F0A1A2D6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77845-AD2F-ECF7-1E7D-2680E91D3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F5A12-AE0B-9E24-787C-3CC1186E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C5EEC-0676-6BC7-0D88-A1F03257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449E3-E361-C59D-BD1A-C79DAC78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00359-C716-1A44-275F-187D2373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8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81A6-9FD6-792A-25E4-133DD088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FFECF-8600-7F62-C544-9B7438A5C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A6BA-34E5-4E5D-B054-072B47F57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87C36-990E-ED36-7B0A-AB89EAF38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02A60-4A2A-D150-1430-6D2690898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CFFC9-9063-8039-9378-BA4D1F38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287E1-C023-052D-6E53-DE7F45F6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59219-97E4-AB6A-75F0-8F21A4AE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117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F558-9941-B465-B1FB-FE86E0D2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DA72D-B0FA-F143-97B0-3223DD2B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66A79-299A-E8F3-3585-0C6DF6C7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B9611-2569-B46D-C868-17DACF0C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950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A703F-B219-E6F1-4148-7668C7F3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E5535-4411-F673-88FA-93249612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860E0-3662-F9D0-93FB-2E9BA3F8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97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2861-2F32-95D6-6B7B-C591F3BE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B2E86-F0AE-A588-DFED-6AEDDF272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A527D-D812-026D-82B9-5BEABD0A7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AC790-0478-24EB-14A0-8CC72CF6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25FFD-AE3D-518F-2C33-D4BD8594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AFBD1-F0B5-FAB0-25CF-B74D4E63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91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8168-FFEC-B214-81F5-8F2B3C7B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B72FE-50C4-AF40-BBBB-A0B5ECDBE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F4E9E-A634-4348-7B5F-58CD25B6B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C36FD-731C-CEB9-DE84-5DE8A09A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4E647-CBBE-1A7E-6446-172F5D22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6DA42-BA00-6B92-3F61-C09A9D39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3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AE59-4A30-E945-6D07-AB62B1D7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E89B3-9E9E-D947-2161-BAB6925E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D5235-504B-37C0-0F91-1F81DC2B0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2676-B374-7900-AB84-C70B488E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B3ADF-E1AB-9FDF-7391-A0B609F6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66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5BDBF-FA80-7EAA-9593-654F81AB5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0897E-C357-3952-F2E4-D1C25344A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1577C-2251-6D9A-6FD7-D63D834E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9163C-DED7-91F5-AFCA-A24C5E95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22D0C-9DF0-9047-7362-6E80C8BF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88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77D8A-0287-169E-9478-79681B5E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B8AB0-56B8-C0F7-C800-126809536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A842B-A0FE-D62D-42B2-80658C2A8D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0119E-3288-4378-8414-7C931E4C0B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24867-166A-6F72-0E66-24612B07D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B393E-B258-41F9-06F7-5063F89BC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C064C-BF59-45EE-A961-CA35DD810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27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arvest.aps.org/v2/journals/articles/10.1103/PhysRevA.88.022126/fulltext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rxiv.org/pdf/2410.20241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D39E3-933D-17A4-A3F6-E98482D12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01" y="341292"/>
            <a:ext cx="11462198" cy="3541690"/>
          </a:xfrm>
        </p:spPr>
        <p:txBody>
          <a:bodyPr>
            <a:normAutofit/>
          </a:bodyPr>
          <a:lstStyle/>
          <a:p>
            <a:r>
              <a:rPr lang="en-IN" sz="4800" dirty="0"/>
              <a:t>Verification of </a:t>
            </a:r>
            <a:br>
              <a:rPr lang="en-IN" sz="4800" dirty="0"/>
            </a:br>
            <a:r>
              <a:rPr lang="en-IN" sz="4800" b="1" dirty="0"/>
              <a:t>4 term Compact Bell-Type Inequality</a:t>
            </a:r>
            <a:br>
              <a:rPr lang="en-IN" sz="4800" dirty="0"/>
            </a:br>
            <a:r>
              <a:rPr lang="en-IN" sz="4800" dirty="0"/>
              <a:t>for </a:t>
            </a:r>
            <a:r>
              <a:rPr lang="en-IN" sz="4800" b="1" dirty="0"/>
              <a:t>8 Qubit Greenberger–Horne–Zeilinger (GHZ) State </a:t>
            </a:r>
            <a:br>
              <a:rPr lang="en-IN" sz="4800" dirty="0"/>
            </a:br>
            <a:r>
              <a:rPr lang="en-IN" sz="4800" dirty="0"/>
              <a:t>on IBM QPU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19E89D-0BA3-FF50-2D48-B65DD62AC9C0}"/>
              </a:ext>
            </a:extLst>
          </p:cNvPr>
          <p:cNvSpPr txBox="1"/>
          <p:nvPr/>
        </p:nvSpPr>
        <p:spPr>
          <a:xfrm>
            <a:off x="302654" y="4565561"/>
            <a:ext cx="11687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BS Project </a:t>
            </a:r>
          </a:p>
          <a:p>
            <a:r>
              <a:rPr lang="en-IN" dirty="0"/>
              <a:t>Presenter: Shreyansh Agarwal</a:t>
            </a:r>
          </a:p>
          <a:p>
            <a:r>
              <a:rPr lang="en-IN" dirty="0"/>
              <a:t>Roll No.: B23PH1024</a:t>
            </a:r>
          </a:p>
          <a:p>
            <a:r>
              <a:rPr lang="en-IN" dirty="0"/>
              <a:t>Supervisor: Dr. V. Narayanan</a:t>
            </a:r>
          </a:p>
        </p:txBody>
      </p:sp>
    </p:spTree>
    <p:extLst>
      <p:ext uri="{BB962C8B-B14F-4D97-AF65-F5344CB8AC3E}">
        <p14:creationId xmlns:p14="http://schemas.microsoft.com/office/powerpoint/2010/main" val="418086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57B56-B5D3-A49A-D549-FDDC36E2B00B}"/>
              </a:ext>
            </a:extLst>
          </p:cNvPr>
          <p:cNvSpPr txBox="1"/>
          <p:nvPr/>
        </p:nvSpPr>
        <p:spPr>
          <a:xfrm>
            <a:off x="270456" y="211479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Why Compact Bell-Type Inequality?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D01F5-6A4A-8A09-2B1F-E6A5E4B57F7A}"/>
                  </a:ext>
                </a:extLst>
              </p:cNvPr>
              <p:cNvSpPr txBox="1"/>
              <p:nvPr/>
            </p:nvSpPr>
            <p:spPr>
              <a:xfrm>
                <a:off x="270456" y="1288286"/>
                <a:ext cx="11320530" cy="4281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General Bell-Type  for a n-Qubit System: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For a n-qubit system, </a:t>
                </a:r>
                <a:r>
                  <a:rPr lang="en-IN" b="1" dirty="0"/>
                  <a:t>standard Bell-type inequalities</a:t>
                </a:r>
                <a:r>
                  <a:rPr lang="en-IN" dirty="0"/>
                  <a:t> would be of form: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〉</m:t>
                          </m:r>
                        </m:e>
                      </m:nary>
                    </m:oMath>
                  </m:oMathPara>
                </a14:m>
                <a:endParaRPr lang="en-IN" b="0" dirty="0"/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∈{1,−1}</m:t>
                      </m:r>
                    </m:oMath>
                  </m:oMathPara>
                </a14:m>
                <a:endParaRPr lang="en-IN" dirty="0"/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∈{1,2}</m:t>
                      </m:r>
                    </m:oMath>
                  </m:oMathPara>
                </a14:m>
                <a:endParaRPr lang="en-IN" dirty="0"/>
              </a:p>
              <a:p>
                <a:pPr lvl="1">
                  <a:lnSpc>
                    <a:spcPct val="150000"/>
                  </a:lnSpc>
                </a:pPr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 Number of term involved in the inequality scales as: </a:t>
                </a:r>
                <a:r>
                  <a:rPr lang="en-IN" b="1" dirty="0"/>
                  <a:t>2</a:t>
                </a:r>
                <a:r>
                  <a:rPr lang="en-IN" b="1" baseline="30000" dirty="0"/>
                  <a:t>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For </a:t>
                </a:r>
                <a:r>
                  <a:rPr lang="en-IN" b="1" dirty="0"/>
                  <a:t>8-qubits</a:t>
                </a:r>
                <a:r>
                  <a:rPr lang="en-IN" dirty="0"/>
                  <a:t>: </a:t>
                </a:r>
                <a:r>
                  <a:rPr lang="en-IN" b="1" dirty="0"/>
                  <a:t>256 term</a:t>
                </a:r>
                <a:r>
                  <a:rPr lang="en-IN" dirty="0"/>
                  <a:t> = </a:t>
                </a:r>
                <a:r>
                  <a:rPr lang="en-IN" b="1" dirty="0"/>
                  <a:t>Running 256 circuits with 10,000 shots each </a:t>
                </a:r>
                <a:r>
                  <a:rPr lang="en-IN" dirty="0"/>
                  <a:t>(for statistics)</a:t>
                </a:r>
              </a:p>
              <a:p>
                <a:pPr lvl="1"/>
                <a:r>
                  <a:rPr lang="en-IN" dirty="0"/>
                  <a:t>		</a:t>
                </a:r>
              </a:p>
              <a:p>
                <a:pPr lvl="1" algn="ctr"/>
                <a:r>
                  <a:rPr lang="en-IN" sz="2800" dirty="0"/>
                  <a:t>TOO COSTLY TO EXECUTE ON HARDWARE!!!</a:t>
                </a:r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D01F5-6A4A-8A09-2B1F-E6A5E4B57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6" y="1288286"/>
                <a:ext cx="11320530" cy="4281428"/>
              </a:xfrm>
              <a:prstGeom prst="rect">
                <a:avLst/>
              </a:prstGeom>
              <a:blipFill>
                <a:blip r:embed="rId2"/>
                <a:stretch>
                  <a:fillRect l="-431" t="-569" b="-28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05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E63D0-4C62-BA00-E6AA-B429DDFB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49DA97-9DBC-7C64-B3CA-F6C6FF91539D}"/>
              </a:ext>
            </a:extLst>
          </p:cNvPr>
          <p:cNvSpPr txBox="1"/>
          <p:nvPr/>
        </p:nvSpPr>
        <p:spPr>
          <a:xfrm>
            <a:off x="270456" y="211479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Why Compact Bell-Type Inequality?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5BE74-E682-0A93-1DF6-ECAED578AFB4}"/>
                  </a:ext>
                </a:extLst>
              </p:cNvPr>
              <p:cNvSpPr txBox="1"/>
              <p:nvPr/>
            </p:nvSpPr>
            <p:spPr>
              <a:xfrm>
                <a:off x="270456" y="1302642"/>
                <a:ext cx="11320530" cy="4898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Compact Bell-Type Inequality for a n-Qubit System: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u="sng" dirty="0"/>
                  <a:t>Following:</a:t>
                </a:r>
                <a:r>
                  <a:rPr lang="en-IN" dirty="0"/>
                  <a:t> </a:t>
                </a:r>
                <a:r>
                  <a:rPr lang="en-IN" b="1" dirty="0"/>
                  <a:t>Wu et.al.</a:t>
                </a:r>
                <a:r>
                  <a:rPr lang="en-IN" dirty="0"/>
                  <a:t> (</a:t>
                </a:r>
                <a:r>
                  <a:rPr lang="en-IN" dirty="0">
                    <a:hlinkClick r:id="rId2"/>
                  </a:rPr>
                  <a:t>Compact Bell inequalities for multipartite experiments</a:t>
                </a:r>
                <a:r>
                  <a:rPr lang="en-IN" dirty="0"/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For a n-qubit system, compact 4-term Bell-type inequalities can be built from compact inequality of n-1 Qubit.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1" dirty="0"/>
                  <a:t>Number of term involved</a:t>
                </a:r>
                <a:r>
                  <a:rPr lang="en-IN" dirty="0"/>
                  <a:t> in the inequality remains constant: </a:t>
                </a:r>
                <a:r>
                  <a:rPr lang="en-IN" b="1" dirty="0"/>
                  <a:t>4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For </a:t>
                </a:r>
                <a:r>
                  <a:rPr lang="en-IN" b="1" dirty="0"/>
                  <a:t>8-qubits</a:t>
                </a:r>
                <a:r>
                  <a:rPr lang="en-IN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0" dirty="0"/>
              </a:p>
              <a:p>
                <a:pPr lvl="1">
                  <a:lnSpc>
                    <a:spcPct val="150000"/>
                  </a:lnSpc>
                </a:pPr>
                <a:endParaRPr lang="en-IN" b="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0" dirty="0"/>
                  <a:t>This requires to implement only </a:t>
                </a:r>
                <a:r>
                  <a:rPr lang="en-IN" b="1" dirty="0"/>
                  <a:t>4 circuits (10,000 shots each)</a:t>
                </a:r>
                <a:r>
                  <a:rPr lang="en-IN" b="0" dirty="0"/>
                  <a:t> to see presence of Non-Classical Correlations.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1" dirty="0"/>
                  <a:t>Classical Bound: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| ≤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5BE74-E682-0A93-1DF6-ECAED578A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6" y="1302642"/>
                <a:ext cx="11320530" cy="4898457"/>
              </a:xfrm>
              <a:prstGeom prst="rect">
                <a:avLst/>
              </a:prstGeom>
              <a:blipFill>
                <a:blip r:embed="rId3"/>
                <a:stretch>
                  <a:fillRect l="-431" t="-623" b="-1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09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211D-988B-106A-08F9-E3BEB44A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4CA410-E382-EB77-FCC6-EB7E4738ACB9}"/>
              </a:ext>
            </a:extLst>
          </p:cNvPr>
          <p:cNvSpPr txBox="1"/>
          <p:nvPr/>
        </p:nvSpPr>
        <p:spPr>
          <a:xfrm>
            <a:off x="270456" y="211479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Why Compact Bell-Type Inequality?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35DE2A-0806-7DFD-4958-3C2CADCD3785}"/>
                  </a:ext>
                </a:extLst>
              </p:cNvPr>
              <p:cNvSpPr txBox="1"/>
              <p:nvPr/>
            </p:nvSpPr>
            <p:spPr>
              <a:xfrm>
                <a:off x="270456" y="1167413"/>
                <a:ext cx="11320530" cy="5071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b="1" dirty="0"/>
                  <a:t>Compact Bell-Type  for a 8-Qubit System: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For </a:t>
                </a:r>
                <a:r>
                  <a:rPr lang="en-IN" b="1" dirty="0"/>
                  <a:t>8-qubits</a:t>
                </a:r>
                <a:r>
                  <a:rPr lang="en-IN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0" dirty="0"/>
              </a:p>
              <a:p>
                <a:pPr lvl="1">
                  <a:lnSpc>
                    <a:spcPct val="150000"/>
                  </a:lnSpc>
                </a:pPr>
                <a:endParaRPr lang="en-IN" b="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Each </a:t>
                </a:r>
                <a:r>
                  <a:rPr lang="en-US" b="1" dirty="0"/>
                  <a:t>local observable as a generalized spin measurement </a:t>
                </a:r>
                <a:r>
                  <a:rPr lang="en-US" dirty="0"/>
                  <a:t>of the form: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̂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acc>
                        <m:accPr>
                          <m:chr m:val="̂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acc>
                        <m:accPr>
                          <m:chr m:val="̂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acc>
                        <m:accPr>
                          <m:chr m:val="̂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b="0" dirty="0"/>
              </a:p>
              <a:p>
                <a:pPr lvl="1">
                  <a:lnSpc>
                    <a:spcPct val="150000"/>
                  </a:lnSpc>
                </a:pPr>
                <a:endParaRPr lang="en-IN" b="0" dirty="0"/>
              </a:p>
              <a:p>
                <a:pPr lvl="1">
                  <a:lnSpc>
                    <a:spcPct val="150000"/>
                  </a:lnSpc>
                </a:pPr>
                <a:r>
                  <a:rPr lang="en-IN" b="0" dirty="0"/>
                  <a:t>	as employed by Tomis et al. (</a:t>
                </a:r>
                <a:r>
                  <a:rPr lang="en-US" dirty="0">
                    <a:hlinkClick r:id="rId2"/>
                  </a:rPr>
                  <a:t>Experimental demonstration of the Bell-type inequalities for four qubit Dicke state using IBM Quantum Processing Units</a:t>
                </a:r>
                <a:r>
                  <a:rPr lang="en-IN" b="0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endParaRPr lang="en-IN" b="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0" dirty="0"/>
                  <a:t>Now, we </a:t>
                </a:r>
                <a:r>
                  <a:rPr lang="en-IN" b="1" dirty="0"/>
                  <a:t>optimize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N" b="1" dirty="0"/>
                  <a:t>) for each local observable </a:t>
                </a:r>
                <a:r>
                  <a:rPr lang="en-IN" b="0" dirty="0"/>
                  <a:t>to get maximal violation for 8-Qubit GHZ State.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The </a:t>
                </a:r>
                <a:r>
                  <a:rPr lang="en-IN" b="1" dirty="0"/>
                  <a:t>Quantum Bound </a:t>
                </a:r>
                <a:r>
                  <a:rPr lang="en-IN" dirty="0"/>
                  <a:t>for 8-Qubit GHZ State: </a:t>
                </a:r>
                <a:r>
                  <a:rPr lang="en-IN" b="1" dirty="0"/>
                  <a:t>4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35DE2A-0806-7DFD-4958-3C2CADCD3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6" y="1167413"/>
                <a:ext cx="11320530" cy="5071260"/>
              </a:xfrm>
              <a:prstGeom prst="rect">
                <a:avLst/>
              </a:prstGeom>
              <a:blipFill>
                <a:blip r:embed="rId3"/>
                <a:stretch>
                  <a:fillRect l="-431" b="-1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37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97B178-6B9B-3B71-F4F5-35528148C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92255"/>
              </p:ext>
            </p:extLst>
          </p:nvPr>
        </p:nvGraphicFramePr>
        <p:xfrm>
          <a:off x="793822" y="221454"/>
          <a:ext cx="10275570" cy="6269430"/>
        </p:xfrm>
        <a:graphic>
          <a:graphicData uri="http://schemas.openxmlformats.org/drawingml/2006/table">
            <a:tbl>
              <a:tblPr/>
              <a:tblGrid>
                <a:gridCol w="3425190">
                  <a:extLst>
                    <a:ext uri="{9D8B030D-6E8A-4147-A177-3AD203B41FA5}">
                      <a16:colId xmlns:a16="http://schemas.microsoft.com/office/drawing/2014/main" val="957028106"/>
                    </a:ext>
                  </a:extLst>
                </a:gridCol>
                <a:gridCol w="3425190">
                  <a:extLst>
                    <a:ext uri="{9D8B030D-6E8A-4147-A177-3AD203B41FA5}">
                      <a16:colId xmlns:a16="http://schemas.microsoft.com/office/drawing/2014/main" val="3294973398"/>
                    </a:ext>
                  </a:extLst>
                </a:gridCol>
                <a:gridCol w="3425190">
                  <a:extLst>
                    <a:ext uri="{9D8B030D-6E8A-4147-A177-3AD203B41FA5}">
                      <a16:colId xmlns:a16="http://schemas.microsoft.com/office/drawing/2014/main" val="2437486095"/>
                    </a:ext>
                  </a:extLst>
                </a:gridCol>
              </a:tblGrid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Label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2000" b="1"/>
                        <a:t>θ (</a:t>
                      </a:r>
                      <a:r>
                        <a:rPr lang="en-IN" sz="2000" b="1"/>
                        <a:t>theta)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2000" b="1" dirty="0"/>
                        <a:t>φ (</a:t>
                      </a:r>
                      <a:r>
                        <a:rPr lang="en-IN" sz="2000" b="1" dirty="0"/>
                        <a:t>phi)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415248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a1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0.396978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314421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b1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0.396531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878665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c1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1.00564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96574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d1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0.460767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494591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e1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1.00519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416165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f1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1.00564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151387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g1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1.00616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856276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h1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1.00628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91992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a2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1.18217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647333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b2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1.18214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764129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c2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0.691424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45487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d2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2.03156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138718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e2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0.691841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27247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f2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0.691328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72944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g2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0.691696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764375"/>
                  </a:ext>
                </a:extLst>
              </a:tr>
              <a:tr h="333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h2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1.5708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0.691826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058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645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B578-2786-3930-B39B-669D2B95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FA049B-8527-29C2-37DC-B1B9BB711679}"/>
              </a:ext>
            </a:extLst>
          </p:cNvPr>
          <p:cNvSpPr txBox="1"/>
          <p:nvPr/>
        </p:nvSpPr>
        <p:spPr>
          <a:xfrm>
            <a:off x="270456" y="185721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8-Qubit GHZ State Preparation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C4CEDF-5096-ED53-4B7E-E286827BD75B}"/>
                  </a:ext>
                </a:extLst>
              </p:cNvPr>
              <p:cNvSpPr txBox="1"/>
              <p:nvPr/>
            </p:nvSpPr>
            <p:spPr>
              <a:xfrm>
                <a:off x="270456" y="1135416"/>
                <a:ext cx="11320530" cy="1495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8-qubit GHZ State: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GHZ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⊗8</m:t>
                              </m:r>
                            </m:sup>
                          </m:sSup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⊗8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  <a:p>
                <a:pPr lvl="1"/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We employ </a:t>
                </a:r>
                <a:r>
                  <a:rPr lang="en-IN" b="1" dirty="0"/>
                  <a:t>3 methods </a:t>
                </a:r>
                <a:r>
                  <a:rPr lang="en-IN" dirty="0"/>
                  <a:t>to prepare the 8-qubit GHZ State: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C4CEDF-5096-ED53-4B7E-E286827BD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6" y="1135416"/>
                <a:ext cx="11320530" cy="1495602"/>
              </a:xfrm>
              <a:prstGeom prst="rect">
                <a:avLst/>
              </a:prstGeom>
              <a:blipFill>
                <a:blip r:embed="rId2"/>
                <a:stretch>
                  <a:fillRect t="-1626" b="-56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B25D62-8129-80DA-3FAE-CFE1C863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6" y="3262301"/>
            <a:ext cx="5314279" cy="3175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14E0DE-E660-A4AA-E4B7-97D88949F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149" y="3262301"/>
            <a:ext cx="6294829" cy="3175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C1BC66-BF8F-7154-5D49-1F16122298D5}"/>
              </a:ext>
            </a:extLst>
          </p:cNvPr>
          <p:cNvSpPr txBox="1"/>
          <p:nvPr/>
        </p:nvSpPr>
        <p:spPr>
          <a:xfrm>
            <a:off x="719054" y="2894013"/>
            <a:ext cx="4576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b="1" dirty="0"/>
              <a:t>1. Unitary Gate Based: Chain Topology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9D4C22-B116-CF44-9273-DB86549C100C}"/>
              </a:ext>
            </a:extLst>
          </p:cNvPr>
          <p:cNvSpPr txBox="1"/>
          <p:nvPr/>
        </p:nvSpPr>
        <p:spPr>
          <a:xfrm>
            <a:off x="6607267" y="2915199"/>
            <a:ext cx="486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b="1" dirty="0"/>
              <a:t>2. Unitary Gate Based: Star Topology</a:t>
            </a:r>
          </a:p>
        </p:txBody>
      </p:sp>
    </p:spTree>
    <p:extLst>
      <p:ext uri="{BB962C8B-B14F-4D97-AF65-F5344CB8AC3E}">
        <p14:creationId xmlns:p14="http://schemas.microsoft.com/office/powerpoint/2010/main" val="1227882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D1CEC1-BFFE-5842-27D9-78BEDEE63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05" y="1420691"/>
            <a:ext cx="11725333" cy="3353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93EDC7-42EF-54F0-62E7-24A5F6281913}"/>
              </a:ext>
            </a:extLst>
          </p:cNvPr>
          <p:cNvSpPr txBox="1"/>
          <p:nvPr/>
        </p:nvSpPr>
        <p:spPr>
          <a:xfrm>
            <a:off x="3663160" y="987723"/>
            <a:ext cx="486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b="1" dirty="0"/>
              <a:t>3. Dynamic Circuits</a:t>
            </a:r>
          </a:p>
        </p:txBody>
      </p:sp>
    </p:spTree>
    <p:extLst>
      <p:ext uri="{BB962C8B-B14F-4D97-AF65-F5344CB8AC3E}">
        <p14:creationId xmlns:p14="http://schemas.microsoft.com/office/powerpoint/2010/main" val="1493104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2212D-E90B-4AC3-3BD8-CA54674337E1}"/>
              </a:ext>
            </a:extLst>
          </p:cNvPr>
          <p:cNvSpPr txBox="1"/>
          <p:nvPr/>
        </p:nvSpPr>
        <p:spPr>
          <a:xfrm>
            <a:off x="270456" y="211479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Running on IBM QPU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9AAD8D-6ADF-A5D9-3765-5A9DFC1A26ED}"/>
                  </a:ext>
                </a:extLst>
              </p:cNvPr>
              <p:cNvSpPr txBox="1"/>
              <p:nvPr/>
            </p:nvSpPr>
            <p:spPr>
              <a:xfrm>
                <a:off x="270456" y="1206048"/>
                <a:ext cx="11320530" cy="5453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Executed on: </a:t>
                </a:r>
                <a:r>
                  <a:rPr lang="en-IN" b="1" dirty="0" err="1"/>
                  <a:t>ibm_fez</a:t>
                </a:r>
                <a:r>
                  <a:rPr lang="en-IN" dirty="0"/>
                  <a:t> and </a:t>
                </a:r>
                <a:r>
                  <a:rPr lang="en-IN" b="1" dirty="0" err="1"/>
                  <a:t>ibm_marrakesh</a:t>
                </a:r>
                <a:endParaRPr lang="en-IN" b="1" dirty="0"/>
              </a:p>
              <a:p>
                <a:pPr lvl="1">
                  <a:lnSpc>
                    <a:spcPct val="150000"/>
                  </a:lnSpc>
                </a:pPr>
                <a:endParaRPr lang="en-IN" b="1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 Backends are </a:t>
                </a:r>
                <a:r>
                  <a:rPr lang="en-IN" b="1" dirty="0"/>
                  <a:t>inherently noisy</a:t>
                </a:r>
                <a:r>
                  <a:rPr lang="en-IN" dirty="0"/>
                  <a:t>, hence </a:t>
                </a:r>
                <a:r>
                  <a:rPr lang="en-IN" b="1" dirty="0"/>
                  <a:t>mitigation techniques</a:t>
                </a:r>
                <a:r>
                  <a:rPr lang="en-IN" dirty="0"/>
                  <a:t> were employed to improve the results.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1" dirty="0"/>
                  <a:t>Mitigation Techniques Employed</a:t>
                </a:r>
                <a:r>
                  <a:rPr lang="en-IN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	1. Dynamical Decoupling (DD)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	2. Twirled Readout Error Extinction (TREX)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	3. Matrix free Measurement Mitigation (M3) </a:t>
                </a:r>
              </a:p>
              <a:p>
                <a:pPr lvl="1">
                  <a:lnSpc>
                    <a:spcPct val="150000"/>
                  </a:lnSpc>
                </a:pPr>
                <a:endParaRPr lang="en-IN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Steps: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	1. The circuits were fitted with </a:t>
                </a:r>
                <a:r>
                  <a:rPr lang="en-IN" dirty="0" err="1"/>
                  <a:t>rz</a:t>
                </a:r>
                <a:r>
                  <a:rPr lang="en-IN" dirty="0"/>
                  <a:t>(-</a:t>
                </a:r>
                <a:r>
                  <a:rPr lang="en-I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) and </a:t>
                </a:r>
                <a:r>
                  <a:rPr lang="en-IN" dirty="0" err="1"/>
                  <a:t>ry</a:t>
                </a:r>
                <a:r>
                  <a:rPr lang="en-IN" dirty="0"/>
                  <a:t>(-</a:t>
                </a:r>
                <a:r>
                  <a:rPr lang="en-I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) for </a:t>
                </a:r>
                <a:r>
                  <a:rPr lang="en-IN" dirty="0" err="1"/>
                  <a:t>i</a:t>
                </a:r>
                <a:r>
                  <a:rPr lang="en-IN" baseline="30000" dirty="0" err="1"/>
                  <a:t>th</a:t>
                </a:r>
                <a:r>
                  <a:rPr lang="en-IN" dirty="0"/>
                  <a:t> qubit before final Z measurement. This is 		basically a basis change to get expectation value of the particular operator.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	2. The circuits were </a:t>
                </a:r>
                <a:r>
                  <a:rPr lang="en-IN" dirty="0" err="1"/>
                  <a:t>transpiled</a:t>
                </a:r>
                <a:r>
                  <a:rPr lang="en-IN" dirty="0"/>
                  <a:t> to fit the backend qubit mapping.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	3. These </a:t>
                </a:r>
                <a:r>
                  <a:rPr lang="en-IN" dirty="0" err="1"/>
                  <a:t>transpiled</a:t>
                </a:r>
                <a:r>
                  <a:rPr lang="en-IN" dirty="0"/>
                  <a:t> circuits were run on both QPUs with Sampler Runtime Primitive.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9AAD8D-6ADF-A5D9-3765-5A9DFC1A2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6" y="1206048"/>
                <a:ext cx="11320530" cy="5453865"/>
              </a:xfrm>
              <a:prstGeom prst="rect">
                <a:avLst/>
              </a:prstGeom>
              <a:blipFill>
                <a:blip r:embed="rId2"/>
                <a:stretch>
                  <a:fillRect b="-8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40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404297-EFFB-BC9D-E7FE-EA9ABDCA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73" y="669995"/>
            <a:ext cx="11927983" cy="2881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40AF88-2F45-E548-CA0C-9CDE92268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0" y="4281800"/>
            <a:ext cx="11841051" cy="2051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5EBCB9-302E-BED9-9704-39AC56B1D265}"/>
              </a:ext>
            </a:extLst>
          </p:cNvPr>
          <p:cNvSpPr txBox="1"/>
          <p:nvPr/>
        </p:nvSpPr>
        <p:spPr>
          <a:xfrm>
            <a:off x="-266180" y="300663"/>
            <a:ext cx="4576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dirty="0"/>
              <a:t>1. Unitary Gate Based: Chain Topology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FCA3F-F612-4843-A269-496984336DE4}"/>
              </a:ext>
            </a:extLst>
          </p:cNvPr>
          <p:cNvSpPr txBox="1"/>
          <p:nvPr/>
        </p:nvSpPr>
        <p:spPr>
          <a:xfrm>
            <a:off x="-205657" y="3912468"/>
            <a:ext cx="486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dirty="0"/>
              <a:t>2. Unitary Gate Based: Star Topology</a:t>
            </a:r>
          </a:p>
        </p:txBody>
      </p:sp>
    </p:spTree>
    <p:extLst>
      <p:ext uri="{BB962C8B-B14F-4D97-AF65-F5344CB8AC3E}">
        <p14:creationId xmlns:p14="http://schemas.microsoft.com/office/powerpoint/2010/main" val="258503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4D7E4-5BC8-27F0-4743-1A5B3E43F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5" y="2212955"/>
            <a:ext cx="11844270" cy="2432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78B507-6F39-142D-5AB7-1D9CCBBB9A8B}"/>
              </a:ext>
            </a:extLst>
          </p:cNvPr>
          <p:cNvSpPr txBox="1"/>
          <p:nvPr/>
        </p:nvSpPr>
        <p:spPr>
          <a:xfrm>
            <a:off x="-154141" y="1735938"/>
            <a:ext cx="486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dirty="0"/>
              <a:t>3. Dynamic Circuits</a:t>
            </a:r>
          </a:p>
        </p:txBody>
      </p:sp>
    </p:spTree>
    <p:extLst>
      <p:ext uri="{BB962C8B-B14F-4D97-AF65-F5344CB8AC3E}">
        <p14:creationId xmlns:p14="http://schemas.microsoft.com/office/powerpoint/2010/main" val="3028829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D726-B00E-C616-4CA7-3EDF4F932E4D}"/>
              </a:ext>
            </a:extLst>
          </p:cNvPr>
          <p:cNvSpPr txBox="1"/>
          <p:nvPr/>
        </p:nvSpPr>
        <p:spPr>
          <a:xfrm>
            <a:off x="270456" y="211479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Challenge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BE4D9-2813-5AA2-722D-CD0D467BADCC}"/>
              </a:ext>
            </a:extLst>
          </p:cNvPr>
          <p:cNvSpPr txBox="1"/>
          <p:nvPr/>
        </p:nvSpPr>
        <p:spPr>
          <a:xfrm>
            <a:off x="270456" y="1070820"/>
            <a:ext cx="11320530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With </a:t>
            </a:r>
            <a:r>
              <a:rPr lang="en-IN" b="1" dirty="0"/>
              <a:t>Dynamic Circuits</a:t>
            </a:r>
            <a:r>
              <a:rPr lang="en-IN" dirty="0"/>
              <a:t> we </a:t>
            </a:r>
            <a:r>
              <a:rPr lang="en-IN" b="1" dirty="0"/>
              <a:t>cannot apply Dynamical Decoupling </a:t>
            </a:r>
            <a:r>
              <a:rPr lang="en-IN" dirty="0"/>
              <a:t>normally as we did for other circuits and this cannot be achieved even by Padding Dynamical Decoupling with in-built Pass Managers.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Reason:</a:t>
            </a:r>
            <a:r>
              <a:rPr lang="en-IN" dirty="0"/>
              <a:t> Circuits need to be </a:t>
            </a:r>
            <a:r>
              <a:rPr lang="en-IN" b="1" dirty="0"/>
              <a:t>scheduled to apply DD</a:t>
            </a:r>
            <a:r>
              <a:rPr lang="en-IN" dirty="0"/>
              <a:t>. But there is </a:t>
            </a:r>
            <a:r>
              <a:rPr lang="en-IN" b="1" dirty="0"/>
              <a:t>no way to schedule the </a:t>
            </a:r>
            <a:r>
              <a:rPr lang="en-IN" b="1" dirty="0" err="1"/>
              <a:t>if_else</a:t>
            </a:r>
            <a:r>
              <a:rPr lang="en-IN" b="1" dirty="0"/>
              <a:t> operations</a:t>
            </a:r>
            <a:r>
              <a:rPr lang="en-IN" dirty="0"/>
              <a:t> required for Dynamic Circuits as they are classical decision-making steps and may have some variable time depending on the classical hardware. 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 we </a:t>
            </a:r>
            <a:r>
              <a:rPr lang="en-IN" dirty="0" err="1"/>
              <a:t>padd</a:t>
            </a:r>
            <a:r>
              <a:rPr lang="en-IN" dirty="0"/>
              <a:t> DD using </a:t>
            </a:r>
            <a:r>
              <a:rPr lang="en-IN" b="1" dirty="0"/>
              <a:t>Stretches </a:t>
            </a:r>
            <a:r>
              <a:rPr lang="en-IN" dirty="0"/>
              <a:t>(a new feature introduced to qiskit).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Stretches help us set variable delay time whose values are automatically set during the execution of circuit.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Another Challenge: </a:t>
            </a:r>
            <a:r>
              <a:rPr lang="en-IN" dirty="0"/>
              <a:t>With stretches present in circuit, one cannot normally apply Twirling as it tries to twirl these stretches.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 mitigate Dynamic Circuits we had to apply both DD and TREX manually using </a:t>
            </a:r>
            <a:r>
              <a:rPr lang="en-IN" b="1" dirty="0"/>
              <a:t>Stretches</a:t>
            </a:r>
            <a:r>
              <a:rPr lang="en-IN" dirty="0"/>
              <a:t> and </a:t>
            </a:r>
            <a:r>
              <a:rPr lang="en-IN" b="1" dirty="0" err="1"/>
              <a:t>Samplomatic</a:t>
            </a:r>
            <a:r>
              <a:rPr lang="en-IN" dirty="0"/>
              <a:t> (new features introduced to qiskit featured in Qiskit Developer Conference, 2025).</a:t>
            </a:r>
          </a:p>
        </p:txBody>
      </p:sp>
    </p:spTree>
    <p:extLst>
      <p:ext uri="{BB962C8B-B14F-4D97-AF65-F5344CB8AC3E}">
        <p14:creationId xmlns:p14="http://schemas.microsoft.com/office/powerpoint/2010/main" val="211582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40CC-BCBB-F5A4-170F-330462C0D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sz="8800" dirty="0"/>
              <a:t>DD and Twirling for Dynamic Circuits</a:t>
            </a:r>
          </a:p>
        </p:txBody>
      </p:sp>
    </p:spTree>
    <p:extLst>
      <p:ext uri="{BB962C8B-B14F-4D97-AF65-F5344CB8AC3E}">
        <p14:creationId xmlns:p14="http://schemas.microsoft.com/office/powerpoint/2010/main" val="378587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A3C4-913D-32B6-6BC0-533F61D82859}"/>
              </a:ext>
            </a:extLst>
          </p:cNvPr>
          <p:cNvSpPr txBox="1">
            <a:spLocks/>
          </p:cNvSpPr>
          <p:nvPr/>
        </p:nvSpPr>
        <p:spPr>
          <a:xfrm>
            <a:off x="148105" y="64391"/>
            <a:ext cx="9144000" cy="6742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1. Split QC 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7FE55DE3-DF9D-4BC9-C4BB-CCFD0DE6B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77" y="670318"/>
            <a:ext cx="10065445" cy="2758682"/>
          </a:xfrm>
          <a:prstGeom prst="rect">
            <a:avLst/>
          </a:prstGeom>
        </p:spPr>
      </p:pic>
      <p:pic>
        <p:nvPicPr>
          <p:cNvPr id="6" name="Picture 5" descr="A diagram of a stitching scheme&#10;&#10;AI-generated content may be incorrect.">
            <a:extLst>
              <a:ext uri="{FF2B5EF4-FFF2-40B4-BE49-F238E27FC236}">
                <a16:creationId xmlns:a16="http://schemas.microsoft.com/office/drawing/2014/main" id="{0FAAA536-7DD1-2A0E-4346-F6F33352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25" y="3709381"/>
            <a:ext cx="3364734" cy="2710998"/>
          </a:xfrm>
          <a:prstGeom prst="rect">
            <a:avLst/>
          </a:prstGeom>
        </p:spPr>
      </p:pic>
      <p:pic>
        <p:nvPicPr>
          <p:cNvPr id="8" name="Picture 7" descr="A graph with blue squares and red squares&#10;&#10;AI-generated content may be incorrect.">
            <a:extLst>
              <a:ext uri="{FF2B5EF4-FFF2-40B4-BE49-F238E27FC236}">
                <a16:creationId xmlns:a16="http://schemas.microsoft.com/office/drawing/2014/main" id="{A4934D66-166F-B4EB-B9F2-458D71D5C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676" y="3709381"/>
            <a:ext cx="3867689" cy="2710998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4BAA5302-1DBC-2591-421C-7FD5093F7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484" y="3709381"/>
            <a:ext cx="3867690" cy="271099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137ED9-CC1F-98D1-C129-B90D0C1FD880}"/>
              </a:ext>
            </a:extLst>
          </p:cNvPr>
          <p:cNvCxnSpPr>
            <a:cxnSpLocks/>
          </p:cNvCxnSpPr>
          <p:nvPr/>
        </p:nvCxnSpPr>
        <p:spPr>
          <a:xfrm flipH="1">
            <a:off x="2788276" y="3389482"/>
            <a:ext cx="3261465" cy="42936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6601C5-D51B-FF6F-5316-4DD33A3375BF}"/>
              </a:ext>
            </a:extLst>
          </p:cNvPr>
          <p:cNvCxnSpPr>
            <a:cxnSpLocks/>
          </p:cNvCxnSpPr>
          <p:nvPr/>
        </p:nvCxnSpPr>
        <p:spPr>
          <a:xfrm>
            <a:off x="6049741" y="3389482"/>
            <a:ext cx="2933271" cy="42936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78C58C-8130-9BDA-19E1-D5018608D472}"/>
              </a:ext>
            </a:extLst>
          </p:cNvPr>
          <p:cNvCxnSpPr>
            <a:cxnSpLocks/>
          </p:cNvCxnSpPr>
          <p:nvPr/>
        </p:nvCxnSpPr>
        <p:spPr>
          <a:xfrm flipH="1">
            <a:off x="6049741" y="3389482"/>
            <a:ext cx="1" cy="42936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CAE3D42-3DAA-FD5A-7BA5-2132DA98EFA1}"/>
              </a:ext>
            </a:extLst>
          </p:cNvPr>
          <p:cNvSpPr txBox="1"/>
          <p:nvPr/>
        </p:nvSpPr>
        <p:spPr>
          <a:xfrm>
            <a:off x="569363" y="6324538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 err="1"/>
              <a:t>Before_ifelseop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429596-AB25-09C8-B9F2-4658A03B62AB}"/>
              </a:ext>
            </a:extLst>
          </p:cNvPr>
          <p:cNvSpPr txBox="1"/>
          <p:nvPr/>
        </p:nvSpPr>
        <p:spPr>
          <a:xfrm>
            <a:off x="5278082" y="521348"/>
            <a:ext cx="184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Circuit</a:t>
            </a:r>
            <a:endParaRPr lang="en-IN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D885A5-BD2C-A7AA-81DE-1B1F1948B103}"/>
              </a:ext>
            </a:extLst>
          </p:cNvPr>
          <p:cNvSpPr txBox="1"/>
          <p:nvPr/>
        </p:nvSpPr>
        <p:spPr>
          <a:xfrm>
            <a:off x="4616912" y="6324538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 err="1"/>
              <a:t>Ifelseop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4C05B1-5F73-4EF3-EE21-80D413BA0067}"/>
              </a:ext>
            </a:extLst>
          </p:cNvPr>
          <p:cNvSpPr txBox="1"/>
          <p:nvPr/>
        </p:nvSpPr>
        <p:spPr>
          <a:xfrm>
            <a:off x="8505500" y="6324538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 err="1"/>
              <a:t>After_ifelseop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45542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DF6D-2BC2-0200-109C-6D23EAD6CB0A}"/>
              </a:ext>
            </a:extLst>
          </p:cNvPr>
          <p:cNvSpPr txBox="1">
            <a:spLocks/>
          </p:cNvSpPr>
          <p:nvPr/>
        </p:nvSpPr>
        <p:spPr>
          <a:xfrm>
            <a:off x="257576" y="70830"/>
            <a:ext cx="11790610" cy="6742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2</a:t>
            </a:r>
            <a:r>
              <a:rPr lang="en-IN" sz="2800" dirty="0"/>
              <a:t>. Apply Box for </a:t>
            </a:r>
            <a:r>
              <a:rPr lang="en-IN" sz="2800" dirty="0" err="1"/>
              <a:t>Samplomatic</a:t>
            </a:r>
            <a:r>
              <a:rPr lang="en-IN" sz="2800" dirty="0"/>
              <a:t> to </a:t>
            </a:r>
            <a:r>
              <a:rPr lang="en-IN" sz="2800" b="1" dirty="0" err="1"/>
              <a:t>Before_ifelseop</a:t>
            </a:r>
            <a:r>
              <a:rPr lang="en-IN" sz="2800" b="1" dirty="0"/>
              <a:t> </a:t>
            </a:r>
            <a:r>
              <a:rPr lang="en-IN" sz="2800" dirty="0"/>
              <a:t>and </a:t>
            </a:r>
            <a:r>
              <a:rPr lang="en-IN" sz="2800" b="1" dirty="0" err="1"/>
              <a:t>After_ifelseop</a:t>
            </a:r>
            <a:r>
              <a:rPr lang="en-IN" sz="2800" dirty="0"/>
              <a:t> </a:t>
            </a:r>
          </a:p>
        </p:txBody>
      </p:sp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BE160882-374E-F53E-CB9C-87C2501C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6" y="682719"/>
            <a:ext cx="5672355" cy="3939771"/>
          </a:xfrm>
          <a:prstGeom prst="rect">
            <a:avLst/>
          </a:prstGeom>
        </p:spPr>
      </p:pic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5F17F90C-B8D8-41C5-2A9F-7C48CEA37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931" y="2591943"/>
            <a:ext cx="5943574" cy="4128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1BA5FF-68B6-5517-086D-1BE4FE100C1B}"/>
              </a:ext>
            </a:extLst>
          </p:cNvPr>
          <p:cNvSpPr txBox="1"/>
          <p:nvPr/>
        </p:nvSpPr>
        <p:spPr>
          <a:xfrm>
            <a:off x="1660924" y="4437824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 err="1"/>
              <a:t>Before_ifelseop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BEAEE-FE6A-F35F-89E6-B10ED185A3EF}"/>
              </a:ext>
            </a:extLst>
          </p:cNvPr>
          <p:cNvSpPr txBox="1"/>
          <p:nvPr/>
        </p:nvSpPr>
        <p:spPr>
          <a:xfrm>
            <a:off x="7468889" y="2291369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 err="1"/>
              <a:t>After_ifelseop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52BEF-019A-3A38-5B2A-90A548BF8154}"/>
              </a:ext>
            </a:extLst>
          </p:cNvPr>
          <p:cNvSpPr txBox="1"/>
          <p:nvPr/>
        </p:nvSpPr>
        <p:spPr>
          <a:xfrm>
            <a:off x="199624" y="4987394"/>
            <a:ext cx="5896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Note: </a:t>
            </a:r>
            <a:r>
              <a:rPr lang="en-US" dirty="0"/>
              <a:t>Don’t apply twirling box to mid circuit measurement as we will not be able to correct for Pauli Twirling before further processing and we will not get correct results.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275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4B18-8818-D75D-DF77-FB48AC24509D}"/>
              </a:ext>
            </a:extLst>
          </p:cNvPr>
          <p:cNvSpPr txBox="1">
            <a:spLocks/>
          </p:cNvSpPr>
          <p:nvPr/>
        </p:nvSpPr>
        <p:spPr>
          <a:xfrm>
            <a:off x="257576" y="83707"/>
            <a:ext cx="11790610" cy="8693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3</a:t>
            </a:r>
            <a:r>
              <a:rPr lang="en-IN" sz="2800" dirty="0"/>
              <a:t>. Combine </a:t>
            </a:r>
            <a:r>
              <a:rPr lang="en-IN" sz="2800" b="1" dirty="0" err="1"/>
              <a:t>Before_ifelseop</a:t>
            </a:r>
            <a:r>
              <a:rPr lang="en-IN" sz="2800" b="1" dirty="0"/>
              <a:t> </a:t>
            </a:r>
            <a:r>
              <a:rPr lang="en-IN" sz="2800" dirty="0"/>
              <a:t>and </a:t>
            </a:r>
            <a:r>
              <a:rPr lang="en-IN" sz="2800" b="1" dirty="0" err="1"/>
              <a:t>After_ifelseop</a:t>
            </a:r>
            <a:r>
              <a:rPr lang="en-IN" sz="2800" dirty="0"/>
              <a:t> with a barrier to label dissection point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DB0A588C-B9CA-5C2D-C3C4-F5DB3D95B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6" y="1264025"/>
            <a:ext cx="11365607" cy="3999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BB3DA66-FAF9-F62E-6147-E3010A749F7A}"/>
              </a:ext>
            </a:extLst>
          </p:cNvPr>
          <p:cNvSpPr/>
          <p:nvPr/>
        </p:nvSpPr>
        <p:spPr>
          <a:xfrm>
            <a:off x="413196" y="1264025"/>
            <a:ext cx="5762224" cy="4310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27804-8323-AF1C-E5EF-AEC1C6848DEA}"/>
              </a:ext>
            </a:extLst>
          </p:cNvPr>
          <p:cNvSpPr/>
          <p:nvPr/>
        </p:nvSpPr>
        <p:spPr>
          <a:xfrm>
            <a:off x="6882683" y="1283545"/>
            <a:ext cx="5049593" cy="4310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81D3B-552B-78B1-3223-197C286F6F25}"/>
              </a:ext>
            </a:extLst>
          </p:cNvPr>
          <p:cNvSpPr txBox="1"/>
          <p:nvPr/>
        </p:nvSpPr>
        <p:spPr>
          <a:xfrm>
            <a:off x="1861479" y="5684125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 err="1"/>
              <a:t>Before_ifelseop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CA57F-D4DD-81B1-EE84-D8947A8B07D0}"/>
              </a:ext>
            </a:extLst>
          </p:cNvPr>
          <p:cNvSpPr txBox="1"/>
          <p:nvPr/>
        </p:nvSpPr>
        <p:spPr>
          <a:xfrm>
            <a:off x="8392623" y="5684125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 err="1"/>
              <a:t>After_ifelseop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7176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486B-89AF-00C4-9588-580B8361CD52}"/>
              </a:ext>
            </a:extLst>
          </p:cNvPr>
          <p:cNvSpPr txBox="1">
            <a:spLocks/>
          </p:cNvSpPr>
          <p:nvPr/>
        </p:nvSpPr>
        <p:spPr>
          <a:xfrm>
            <a:off x="257576" y="83707"/>
            <a:ext cx="11790610" cy="8693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4</a:t>
            </a:r>
            <a:r>
              <a:rPr lang="en-IN" sz="2800" dirty="0"/>
              <a:t>. Construct </a:t>
            </a:r>
            <a:r>
              <a:rPr lang="en-IN" sz="2800" b="1" dirty="0"/>
              <a:t>Template</a:t>
            </a:r>
            <a:r>
              <a:rPr lang="en-IN" sz="2800" dirty="0"/>
              <a:t> and </a:t>
            </a:r>
            <a:r>
              <a:rPr lang="en-IN" sz="2800" b="1" dirty="0" err="1"/>
              <a:t>Samplex</a:t>
            </a:r>
            <a:r>
              <a:rPr lang="en-IN" sz="2800" b="1" dirty="0"/>
              <a:t> </a:t>
            </a:r>
            <a:r>
              <a:rPr lang="en-IN" sz="2800" dirty="0"/>
              <a:t>from the combined circuit and their randomizations for Twirling</a:t>
            </a:r>
            <a:endParaRPr lang="en-IN" sz="2800" b="1" dirty="0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3851318-886B-1145-83F8-31FB87F4F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343"/>
          <a:stretch>
            <a:fillRect/>
          </a:stretch>
        </p:blipFill>
        <p:spPr>
          <a:xfrm>
            <a:off x="75983" y="1007276"/>
            <a:ext cx="8818158" cy="2697614"/>
          </a:xfrm>
          <a:prstGeom prst="rect">
            <a:avLst/>
          </a:prstGeom>
        </p:spPr>
      </p:pic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F48D1B22-028A-F147-9FA1-7BAA6B6D3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75"/>
          <a:stretch>
            <a:fillRect/>
          </a:stretch>
        </p:blipFill>
        <p:spPr>
          <a:xfrm>
            <a:off x="2179542" y="3718287"/>
            <a:ext cx="9681900" cy="2697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33CC5-4B57-7219-096D-64AAD1ABE781}"/>
              </a:ext>
            </a:extLst>
          </p:cNvPr>
          <p:cNvSpPr txBox="1"/>
          <p:nvPr/>
        </p:nvSpPr>
        <p:spPr>
          <a:xfrm>
            <a:off x="4720052" y="6354094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Circuit: </a:t>
            </a:r>
            <a:r>
              <a:rPr lang="en-US" b="1" dirty="0"/>
              <a:t>Template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06609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3C81A085-3AFD-4E80-B269-70068DDFF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65" y="186132"/>
            <a:ext cx="11884269" cy="3007829"/>
          </a:xfrm>
          <a:prstGeom prst="rect">
            <a:avLst/>
          </a:prstGeom>
        </p:spPr>
      </p:pic>
      <p:pic>
        <p:nvPicPr>
          <p:cNvPr id="7" name="Picture 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22BE262C-E144-23DF-6813-AE286ACFC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998" y="4382445"/>
            <a:ext cx="7773485" cy="1771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5B8726-B96B-7914-9419-3F8710380581}"/>
              </a:ext>
            </a:extLst>
          </p:cNvPr>
          <p:cNvSpPr txBox="1"/>
          <p:nvPr/>
        </p:nvSpPr>
        <p:spPr>
          <a:xfrm>
            <a:off x="4224801" y="3603537"/>
            <a:ext cx="286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Samplex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5155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F788-FEB4-876C-8A04-ACABA9B985B1}"/>
              </a:ext>
            </a:extLst>
          </p:cNvPr>
          <p:cNvSpPr txBox="1">
            <a:spLocks/>
          </p:cNvSpPr>
          <p:nvPr/>
        </p:nvSpPr>
        <p:spPr>
          <a:xfrm>
            <a:off x="257576" y="83707"/>
            <a:ext cx="11790610" cy="8693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5. Cut </a:t>
            </a:r>
            <a:r>
              <a:rPr lang="en-US" sz="2800" b="1" dirty="0"/>
              <a:t>Template </a:t>
            </a:r>
            <a:r>
              <a:rPr lang="en-US" sz="2800" dirty="0"/>
              <a:t>from the dissection barrier and add </a:t>
            </a:r>
            <a:r>
              <a:rPr lang="en-US" sz="2800" b="1" dirty="0" err="1"/>
              <a:t>Ifelseop</a:t>
            </a:r>
            <a:r>
              <a:rPr lang="en-US" sz="2800" b="1" dirty="0"/>
              <a:t> </a:t>
            </a:r>
            <a:r>
              <a:rPr lang="en-US" sz="2800" dirty="0"/>
              <a:t>circuit</a:t>
            </a:r>
            <a:endParaRPr lang="en-IN" sz="2800" b="1" dirty="0"/>
          </a:p>
        </p:txBody>
      </p:sp>
      <p:pic>
        <p:nvPicPr>
          <p:cNvPr id="4" name="Picture 3" descr="A blue and pink squares and lines&#10;&#10;AI-generated content may be incorrect.">
            <a:extLst>
              <a:ext uri="{FF2B5EF4-FFF2-40B4-BE49-F238E27FC236}">
                <a16:creationId xmlns:a16="http://schemas.microsoft.com/office/drawing/2014/main" id="{CFF52504-DDFF-D468-113B-4368511C0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51"/>
          <a:stretch>
            <a:fillRect/>
          </a:stretch>
        </p:blipFill>
        <p:spPr>
          <a:xfrm>
            <a:off x="727652" y="1014147"/>
            <a:ext cx="10477488" cy="2707971"/>
          </a:xfrm>
          <a:prstGeom prst="rect">
            <a:avLst/>
          </a:prstGeom>
        </p:spPr>
      </p:pic>
      <p:pic>
        <p:nvPicPr>
          <p:cNvPr id="5" name="Picture 4" descr="A blue and pink squares and lines&#10;&#10;AI-generated content may be incorrect.">
            <a:extLst>
              <a:ext uri="{FF2B5EF4-FFF2-40B4-BE49-F238E27FC236}">
                <a16:creationId xmlns:a16="http://schemas.microsoft.com/office/drawing/2014/main" id="{752E39FF-5371-A10E-C862-62C6BBC6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44"/>
          <a:stretch>
            <a:fillRect/>
          </a:stretch>
        </p:blipFill>
        <p:spPr>
          <a:xfrm>
            <a:off x="727652" y="3892450"/>
            <a:ext cx="10970147" cy="270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91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A414-EFF1-C051-8150-6A957EA0A1E0}"/>
              </a:ext>
            </a:extLst>
          </p:cNvPr>
          <p:cNvSpPr txBox="1">
            <a:spLocks/>
          </p:cNvSpPr>
          <p:nvPr/>
        </p:nvSpPr>
        <p:spPr>
          <a:xfrm>
            <a:off x="257576" y="83707"/>
            <a:ext cx="11790610" cy="8693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6. </a:t>
            </a:r>
            <a:r>
              <a:rPr lang="en-US" sz="2800" dirty="0" err="1"/>
              <a:t>Transpile</a:t>
            </a:r>
            <a:r>
              <a:rPr lang="en-US" sz="2800" dirty="0"/>
              <a:t> </a:t>
            </a:r>
            <a:r>
              <a:rPr lang="en-US" sz="2800" b="1" dirty="0"/>
              <a:t>Template </a:t>
            </a:r>
            <a:r>
              <a:rPr lang="en-US" sz="2800" dirty="0"/>
              <a:t>for backend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1C1B8-88AB-3BA8-0F8D-C5C0FFD7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504"/>
          <a:stretch>
            <a:fillRect/>
          </a:stretch>
        </p:blipFill>
        <p:spPr>
          <a:xfrm>
            <a:off x="463640" y="856474"/>
            <a:ext cx="10914220" cy="2321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C46D51-B7EE-EC87-E813-718A74CC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44"/>
          <a:stretch>
            <a:fillRect/>
          </a:stretch>
        </p:blipFill>
        <p:spPr>
          <a:xfrm>
            <a:off x="573110" y="3602863"/>
            <a:ext cx="10291085" cy="232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76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34E81-A319-97FA-BCBC-B64EFE498524}"/>
              </a:ext>
            </a:extLst>
          </p:cNvPr>
          <p:cNvSpPr txBox="1">
            <a:spLocks/>
          </p:cNvSpPr>
          <p:nvPr/>
        </p:nvSpPr>
        <p:spPr>
          <a:xfrm>
            <a:off x="257576" y="83707"/>
            <a:ext cx="11790610" cy="8693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7. Add dd pulses using stretches to idle qubits in the </a:t>
            </a:r>
            <a:r>
              <a:rPr lang="en-US" sz="2800" b="1" dirty="0" err="1"/>
              <a:t>Ifelseop</a:t>
            </a:r>
            <a:r>
              <a:rPr lang="en-US" sz="2800" dirty="0"/>
              <a:t> part 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724B1-85E4-CC6A-6E0E-5B89DB03E0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89"/>
          <a:stretch>
            <a:fillRect/>
          </a:stretch>
        </p:blipFill>
        <p:spPr>
          <a:xfrm>
            <a:off x="257576" y="1303349"/>
            <a:ext cx="11778021" cy="1819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4E2AF-38DA-BF45-A1E1-279B5C58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70"/>
          <a:stretch>
            <a:fillRect/>
          </a:stretch>
        </p:blipFill>
        <p:spPr>
          <a:xfrm>
            <a:off x="540910" y="3310308"/>
            <a:ext cx="11510387" cy="197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89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6DA8-0AED-EC43-86E9-F3AAEE65F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971B54-EABA-3BD2-BF20-A6CB76A0B4BB}"/>
              </a:ext>
            </a:extLst>
          </p:cNvPr>
          <p:cNvSpPr txBox="1"/>
          <p:nvPr/>
        </p:nvSpPr>
        <p:spPr>
          <a:xfrm>
            <a:off x="270456" y="211479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98920-46EA-EEA1-FB9B-4D7ADFE1C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481" y="3008810"/>
            <a:ext cx="5745380" cy="3563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AE1D8-22C9-CE5C-11DA-AAFCE4D20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64" y="1078773"/>
            <a:ext cx="5984383" cy="3711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440890-72FE-2347-8411-32681E4FA21A}"/>
              </a:ext>
            </a:extLst>
          </p:cNvPr>
          <p:cNvSpPr txBox="1"/>
          <p:nvPr/>
        </p:nvSpPr>
        <p:spPr>
          <a:xfrm>
            <a:off x="538749" y="4896678"/>
            <a:ext cx="4576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dirty="0"/>
              <a:t>1. Unitary Gate Based: Chain Topology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04540-ED2A-C72E-B3D7-23335C94C18B}"/>
              </a:ext>
            </a:extLst>
          </p:cNvPr>
          <p:cNvSpPr txBox="1"/>
          <p:nvPr/>
        </p:nvSpPr>
        <p:spPr>
          <a:xfrm>
            <a:off x="6725307" y="2565357"/>
            <a:ext cx="486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dirty="0"/>
              <a:t>2. Unitary Gate Based: Star Topology</a:t>
            </a:r>
          </a:p>
        </p:txBody>
      </p:sp>
    </p:spTree>
    <p:extLst>
      <p:ext uri="{BB962C8B-B14F-4D97-AF65-F5344CB8AC3E}">
        <p14:creationId xmlns:p14="http://schemas.microsoft.com/office/powerpoint/2010/main" val="3538586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A840A-BAB4-AEBE-4849-FE0E57A5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EA4A90-E5BA-BB2B-6D6C-D7495C048EE2}"/>
              </a:ext>
            </a:extLst>
          </p:cNvPr>
          <p:cNvSpPr txBox="1"/>
          <p:nvPr/>
        </p:nvSpPr>
        <p:spPr>
          <a:xfrm>
            <a:off x="270456" y="211479"/>
            <a:ext cx="1132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84728F-C468-A68F-F737-CC0B2223A2AA}"/>
              </a:ext>
            </a:extLst>
          </p:cNvPr>
          <p:cNvSpPr txBox="1"/>
          <p:nvPr/>
        </p:nvSpPr>
        <p:spPr>
          <a:xfrm>
            <a:off x="3642306" y="5581211"/>
            <a:ext cx="4576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IN" dirty="0"/>
              <a:t>3. Dynamic Circuit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7456C4-2B13-F240-4303-A3E272B1A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123" y="1092123"/>
            <a:ext cx="7223775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1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924</Words>
  <Application>Microsoft Office PowerPoint</Application>
  <PresentationFormat>Widescreen</PresentationFormat>
  <Paragraphs>145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Verification of  4 term Compact Bell-Type Inequality for 8 Qubit Greenberger–Horne–Zeilinger (GHZ) State  on IBM QPU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DD and Twirling for Dynamic Circuits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Agarwal</dc:creator>
  <cp:lastModifiedBy>Shreyansh Agarwal</cp:lastModifiedBy>
  <cp:revision>6</cp:revision>
  <dcterms:created xsi:type="dcterms:W3CDTF">2026-02-06T09:05:41Z</dcterms:created>
  <dcterms:modified xsi:type="dcterms:W3CDTF">2026-04-16T16:39:50Z</dcterms:modified>
</cp:coreProperties>
</file>